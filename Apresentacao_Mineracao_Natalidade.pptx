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7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30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tema, destacar que o trabalho usa bases públicas e técnicas de mineração de dados para analisar padrões relacionados à queda da natalidade.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explicando o problema: a queda da natalidade é ampla e tem impacto social, econômico e populacional.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trabalho não busca apenas mostrar queda, mas descobrir padrões e associações com técnicas de mineração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de onde vieram os dados e destaque que foram usadas bases públicas, padronizadas e comparáveis.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essa etapa preparou os dados para cada técnica: normalização para K-Means e binarização para Apriori.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agrupamento como a etapa que separa estados com comportamentos semelhantes na série histórica.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dois critérios e diga que k=2 foi escolhido principalmente pela silhueta, com o cotovelo como apoio.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os gráficos para mostrar que a queda não é só brasileira: é um fenômeno mundial associado à transição demográfica.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ranking e o mapa mostram diferenças regionais importantes entre os estados brasileiros.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diferença visual das linhas: um grupo cai mais fortemente, enquanto o outro permanece mais estável.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os clusters não são causas; eles ajudam a visualizar estados com padrões semelhantes.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Apriori procura combinações frequentes entre variáveis, mas não prova causalidade.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tabela e destaque as quatro variáveis que aparecem juntas nas regras mais importantes.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todos os resultados e deixe claro que os algoritmos ajudaram a revelar padrões, mas não explicam sozinhos as causas.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 reforçando que a mineração de dados ajudou a organizar e interpretar padrões complexos em bases demográficas públicas.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informando que as bases e referências principais estão listadas e agradeça.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7809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0216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561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442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9494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4744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2668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696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9187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4392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68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898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s_assets/mapa_brasil_only.png"/>
          <p:cNvPicPr>
            <a:picLocks noChangeAspect="1"/>
          </p:cNvPicPr>
          <p:nvPr/>
        </p:nvPicPr>
        <p:blipFill>
          <a:blip r:embed="rId3"/>
          <a:srcRect t="15352" b="15352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A2A">
              <a:alpha val="80000"/>
            </a:srgbClr>
          </a:solidFill>
          <a:ln w="12700">
            <a:solidFill>
              <a:srgbClr val="2A2A2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" y="-38277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214698" y="5546262"/>
            <a:ext cx="1409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4E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Mineração de Dados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749040" y="1417320"/>
            <a:ext cx="77724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2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Aplicação de Técnicas de</a:t>
            </a:r>
            <a:endParaRPr lang="en-US" sz="2900" dirty="0"/>
          </a:p>
          <a:p>
            <a:pPr marL="0" indent="0" algn="r">
              <a:buNone/>
            </a:pPr>
            <a:r>
              <a:rPr lang="en-US" sz="2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Mineração de Dados na Análise de</a:t>
            </a:r>
            <a:endParaRPr lang="en-US" sz="2900" dirty="0"/>
          </a:p>
          <a:p>
            <a:pPr marL="0" indent="0" algn="r">
              <a:buNone/>
            </a:pPr>
            <a:r>
              <a:rPr lang="en-US" sz="2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Padrões Relacionados à</a:t>
            </a:r>
            <a:endParaRPr lang="en-US" sz="2900" dirty="0"/>
          </a:p>
          <a:p>
            <a:pPr marL="0" indent="0" algn="r">
              <a:buNone/>
            </a:pPr>
            <a:r>
              <a:rPr lang="en-US" sz="2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Queda da Natalidade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7452360" y="4828032"/>
            <a:ext cx="41148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Natalia Thomazelli Ferreira</a:t>
            </a:r>
            <a:endParaRPr lang="en-US" sz="2200" dirty="0"/>
          </a:p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Vladimir Queiroz Sejas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52360" y="5623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</a:t>
            </a:r>
            <a:endParaRPr lang="en-US" sz="800" dirty="0"/>
          </a:p>
        </p:txBody>
      </p:sp>
      <p:pic>
        <p:nvPicPr>
          <p:cNvPr id="1026" name="Picture 2" descr="Fatec Rio Claro">
            <a:extLst>
              <a:ext uri="{FF2B5EF4-FFF2-40B4-BE49-F238E27FC236}">
                <a16:creationId xmlns:a16="http://schemas.microsoft.com/office/drawing/2014/main" id="{28049DEC-08D6-46F6-A8AC-8F85C2927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38" y="38277"/>
            <a:ext cx="2704173" cy="64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63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Introdução e Principais Conceitos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Contexto demográfico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redução da natalidade é uma das principais transformações demográficas contemporâneas.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10607040" cy="96012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8249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Esse fenômeno está relacionado a fatores sociais, econômicos, culturais e educacionais, como maior escolaridade feminina, urbanização, acesso a métodos contraceptivos, participação da mulher no mercado de trabalho e mudanças nos padrões familiares.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3246120" cy="2103120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71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Taxa de fecundidade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Número médio de filhos por mulher.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Indica mudanças no comportamento reprodutivo da população.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80560" y="2743200"/>
            <a:ext cx="3246120" cy="2103120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971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Taxa bruta de natalidade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Número de nascimentos por mil habitantes.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Permite avaliar a natalidade em relação ao tamanho da população.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3880" y="2743200"/>
            <a:ext cx="3246120" cy="2103120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971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Mineração de dados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66760" y="3611880"/>
            <a:ext cx="28346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Ajuda a identificar padrões ocultos, relações entre variáveis e similaridades entre regiões.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Impactos: envelhecimento populacional, previdência, mercado de trabalho, saúde pública e planejamento de políticas públicas.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39" y="109728"/>
            <a:ext cx="56815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Objetivo e Trabalhos Relacionados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Mineração de dados aplicada à demografia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247120" cy="117043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777240" y="1170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OBJETIVO: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39112" y="1225296"/>
            <a:ext cx="925372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Analisar padrões relacionados à queda da natalidade no Brasil e no mundo, utilizando bases públicas e técnicas de mineração de dados.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50592" y="1627632"/>
            <a:ext cx="8887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3337560" cy="2240280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Transição demográfica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2880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Redução da fecundidade, envelhecimento populacional e mudanças na estrutura etária.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(ALVES, 2014)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2697480"/>
            <a:ext cx="3337560" cy="2240280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Mineração de dados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520440"/>
            <a:ext cx="2880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Descoberta de padrões, relações e tendências em grandes bases de dados.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(HAN; KAMBER; PEI, 2011)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83880" y="2697480"/>
            <a:ext cx="3337560" cy="2240280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Regras de associação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3520440"/>
            <a:ext cx="2880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Identificação de coocorrências frequentes por suporte, confiança e lift.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(AGRAWAL; SRIKANT, 1994)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34924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Proposta do trabalho: combinar análise mundial, análise regional brasileira e identificação de associações entre variáveis maternas e assistenciais.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Metodologia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Base de dados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Base de dados: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4983480" cy="3063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Mundo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Fonte: World Bank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7 países selecionados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Período: 2000 a 2024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429000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Atributos: taxa de fecundidade e taxa bruta de natalidade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069080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175 registros temporais por indicador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55080" y="1554480"/>
            <a:ext cx="4983480" cy="3063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Brasil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Fonte: SINASC/DATASUS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697480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27 UFs × 25 anos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3063240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Nascidos vivos por residência da mãe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3429000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Idade da mãe, escolaridade, pré-natal e tipo de parto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4069080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675 registros temporais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11680" y="5166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Duas etapas: Agrupamento e Regras de Associação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Metodologia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Pré-processamento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Pré-processamento: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50749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74520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6596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828800" y="17647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Limpeza e organização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828800" y="2167128"/>
            <a:ext cx="3703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Remoção de valores ausentes/inconsistentes e organização das séries temporais.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50749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874520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96596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60920" y="17647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Conversão numérica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360920" y="2167128"/>
            <a:ext cx="3703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Ajuste dos dados para formatos adequados aos algoritmos.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77240" y="3429000"/>
            <a:ext cx="50749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703320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79476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828800" y="35935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Normalização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828800" y="3995928"/>
            <a:ext cx="3703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StandardScaler para evitar influência indevida de variáveis com escalas maiores.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309360" y="3429000"/>
            <a:ext cx="50749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3703320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379476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360920" y="35935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Binarização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360920" y="3995928"/>
            <a:ext cx="3703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Para o Apriori, variáveis foram categorizadas como acima/abaixo da mediana.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914400" y="5349240"/>
            <a:ext cx="10332720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B5CD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546811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Ferramentas: Python, Jupyter Notebook, pandas, scikit-learn, mlxtend, matplotlib e seaborn.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Metodologia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Duas etapas: Agrupamento e Regras de Associação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57400" y="914400"/>
            <a:ext cx="8046720" cy="2331720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Agrupamento: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331720" y="1600200"/>
            <a:ext cx="7406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Escolha do algoritmo: K-Means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2331720" y="1856232"/>
            <a:ext cx="7406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Objetivo: agrupar estados brasileiros com trajetórias semelhantes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2331720" y="2112264"/>
            <a:ext cx="7406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Dados: número de nascidos vivos por UF entre 2000 e 2024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2331720" y="2368296"/>
            <a:ext cx="7406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Qualidade do agrupamento: coeficiente de silhueta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2331720" y="2624328"/>
            <a:ext cx="7406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Análise complementar: método do cotovelo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2331720" y="2880360"/>
            <a:ext cx="7406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Distância euclidiana para medir similaridade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731520" y="5412361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Por que K-Means?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5743319"/>
            <a:ext cx="5029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É um método simples e eficiente para separar registros em grupos com características próximas, útil para análise exploratória.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559899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Resultado esperado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5830323"/>
            <a:ext cx="4846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Identificar estados com queda mais acentuada e estados com comportamento relativamente mais estável.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6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89E7A3-3593-43AB-8C86-E67DE0EBD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080" y="3447545"/>
            <a:ext cx="3981279" cy="13832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Metodologia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Escolha do número de clusters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14300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44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Coeficiente de silhueta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517904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Maior valor para k = 2, indicando melhor coesão interna e separação entre grupos.</a:t>
            </a:r>
            <a:endParaRPr lang="en-US" sz="1700" dirty="0"/>
          </a:p>
        </p:txBody>
      </p:sp>
      <p:pic>
        <p:nvPicPr>
          <p:cNvPr id="9" name="Image 0" descr="/mnt/data/slides_assets/fig_silhu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3852"/>
            <a:ext cx="5212080" cy="31132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0" y="1051560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9088" y="114300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132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Método do cotovelo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132320" y="1517904"/>
            <a:ext cx="4251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redução da inércia é mais forte nos primeiros valores de k; depois os ganhos diminuem.</a:t>
            </a:r>
            <a:endParaRPr lang="en-US" sz="1700" dirty="0"/>
          </a:p>
        </p:txBody>
      </p:sp>
      <p:pic>
        <p:nvPicPr>
          <p:cNvPr id="14" name="Image 1" descr="/mnt/data/slides_assets/fig_cotove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92154"/>
            <a:ext cx="4846320" cy="28966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5806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Decisão final: usar 2 clusters para manter boa separação e interpretação simples dos grupos.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Resultados e Discussões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Análise mundial</a:t>
            </a:r>
            <a:endParaRPr lang="en-US" sz="2200" dirty="0"/>
          </a:p>
        </p:txBody>
      </p:sp>
      <p:pic>
        <p:nvPicPr>
          <p:cNvPr id="5" name="Image 0" descr="/mnt/data/slides_assets/fig_fecund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1479"/>
            <a:ext cx="5349240" cy="2751921"/>
          </a:xfrm>
          <a:prstGeom prst="rect">
            <a:avLst/>
          </a:prstGeom>
        </p:spPr>
      </p:pic>
      <p:pic>
        <p:nvPicPr>
          <p:cNvPr id="6" name="Image 1" descr="/mnt/data/slides_assets/fig_birth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490" y="960120"/>
            <a:ext cx="5482381" cy="2834640"/>
          </a:xfrm>
          <a:prstGeom prst="rect">
            <a:avLst/>
          </a:prstGeom>
        </p:spPr>
      </p:pic>
      <p:pic>
        <p:nvPicPr>
          <p:cNvPr id="7" name="Image 2" descr="/mnt/data/slides_assets/fig_mapa_mun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65682"/>
            <a:ext cx="4846320" cy="14069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80760" y="4023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Padrão geral observado: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6095846" y="4792862"/>
            <a:ext cx="5754777" cy="1559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ea typeface="Arial Narrow" pitchFamily="34" charset="-122"/>
                <a:cs typeface="Arial Narrow" pitchFamily="34" charset="-120"/>
              </a:rPr>
              <a:t>▪ Redução da fecundidade na maior parte dos </a:t>
            </a:r>
            <a:r>
              <a:rPr lang="en-US" sz="1800" dirty="0" err="1">
                <a:ea typeface="Arial Narrow" pitchFamily="34" charset="-122"/>
                <a:cs typeface="Arial Narrow" pitchFamily="34" charset="-120"/>
              </a:rPr>
              <a:t>países</a:t>
            </a:r>
            <a:r>
              <a:rPr lang="en-US" sz="1800" dirty="0">
                <a:ea typeface="Arial Narrow" pitchFamily="34" charset="-122"/>
                <a:cs typeface="Arial Narrow" pitchFamily="34" charset="-120"/>
              </a:rPr>
              <a:t>.</a:t>
            </a:r>
          </a:p>
          <a:p>
            <a:r>
              <a:rPr lang="en-US" sz="1800" dirty="0">
                <a:ea typeface="Arial Narrow" pitchFamily="34" charset="-122"/>
                <a:cs typeface="Arial Narrow" pitchFamily="34" charset="-120"/>
              </a:rPr>
              <a:t>▪ </a:t>
            </a:r>
            <a:r>
              <a:rPr lang="en-US" sz="1800" dirty="0" err="1">
                <a:ea typeface="Arial Narrow" pitchFamily="34" charset="-122"/>
                <a:cs typeface="Arial Narrow" pitchFamily="34" charset="-120"/>
              </a:rPr>
              <a:t>Redução</a:t>
            </a:r>
            <a:r>
              <a:rPr lang="en-US" sz="1800" dirty="0">
                <a:ea typeface="Arial Narrow" pitchFamily="34" charset="-122"/>
                <a:cs typeface="Arial Narrow" pitchFamily="34" charset="-120"/>
              </a:rPr>
              <a:t> gradual da taxa </a:t>
            </a:r>
            <a:r>
              <a:rPr lang="en-US" sz="1800" dirty="0" err="1">
                <a:ea typeface="Arial Narrow" pitchFamily="34" charset="-122"/>
                <a:cs typeface="Arial Narrow" pitchFamily="34" charset="-120"/>
              </a:rPr>
              <a:t>bruta</a:t>
            </a:r>
            <a:r>
              <a:rPr lang="en-US" sz="1800" dirty="0">
                <a:ea typeface="Arial Narrow" pitchFamily="34" charset="-122"/>
                <a:cs typeface="Arial Narrow" pitchFamily="34" charset="-120"/>
              </a:rPr>
              <a:t> de </a:t>
            </a:r>
            <a:r>
              <a:rPr lang="en-US" sz="1800" dirty="0" err="1">
                <a:ea typeface="Arial Narrow" pitchFamily="34" charset="-122"/>
                <a:cs typeface="Arial Narrow" pitchFamily="34" charset="-120"/>
              </a:rPr>
              <a:t>natalidade</a:t>
            </a:r>
            <a:r>
              <a:rPr lang="en-US" sz="1800" dirty="0">
                <a:ea typeface="Arial Narrow" pitchFamily="34" charset="-122"/>
                <a:cs typeface="Arial Narrow" pitchFamily="34" charset="-120"/>
              </a:rPr>
              <a:t> entre 2000 e 2024.</a:t>
            </a:r>
          </a:p>
          <a:p>
            <a:r>
              <a:rPr lang="en-US" sz="1800" dirty="0">
                <a:ea typeface="Arial Narrow" pitchFamily="34" charset="-122"/>
                <a:cs typeface="Arial Narrow" pitchFamily="34" charset="-120"/>
              </a:rPr>
              <a:t>▪ </a:t>
            </a:r>
            <a:r>
              <a:rPr lang="en-US" sz="1800" dirty="0" err="1">
                <a:ea typeface="Arial Narrow" pitchFamily="34" charset="-122"/>
                <a:cs typeface="Arial Narrow" pitchFamily="34" charset="-120"/>
              </a:rPr>
              <a:t>Brasil</a:t>
            </a:r>
            <a:r>
              <a:rPr lang="en-US" sz="1800" dirty="0"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1800" dirty="0" err="1">
                <a:ea typeface="Arial Narrow" pitchFamily="34" charset="-122"/>
                <a:cs typeface="Arial Narrow" pitchFamily="34" charset="-120"/>
              </a:rPr>
              <a:t>apresentou</a:t>
            </a:r>
            <a:r>
              <a:rPr lang="en-US" sz="1800" dirty="0"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1800" dirty="0" err="1">
                <a:ea typeface="Arial Narrow" pitchFamily="34" charset="-122"/>
                <a:cs typeface="Arial Narrow" pitchFamily="34" charset="-120"/>
              </a:rPr>
              <a:t>comportamento</a:t>
            </a:r>
            <a:r>
              <a:rPr lang="en-US" sz="1800" dirty="0"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1800" dirty="0" err="1">
                <a:ea typeface="Arial Narrow" pitchFamily="34" charset="-122"/>
                <a:cs typeface="Arial Narrow" pitchFamily="34" charset="-120"/>
              </a:rPr>
              <a:t>intermediário</a:t>
            </a:r>
            <a:r>
              <a:rPr lang="en-US" sz="1800" dirty="0">
                <a:ea typeface="Arial Narrow" pitchFamily="34" charset="-122"/>
                <a:cs typeface="Arial Narrow" pitchFamily="34" charset="-120"/>
              </a:rPr>
              <a:t>, </a:t>
            </a:r>
            <a:r>
              <a:rPr lang="en-US" sz="1800" dirty="0" err="1">
                <a:ea typeface="Arial Narrow" pitchFamily="34" charset="-122"/>
                <a:cs typeface="Arial Narrow" pitchFamily="34" charset="-120"/>
              </a:rPr>
              <a:t>acompanhando</a:t>
            </a:r>
            <a:r>
              <a:rPr lang="en-US" sz="1800" dirty="0">
                <a:ea typeface="Arial Narrow" pitchFamily="34" charset="-122"/>
                <a:cs typeface="Arial Narrow" pitchFamily="34" charset="-120"/>
              </a:rPr>
              <a:t> a </a:t>
            </a:r>
            <a:r>
              <a:rPr lang="en-US" sz="1800" dirty="0" err="1">
                <a:ea typeface="Arial Narrow" pitchFamily="34" charset="-122"/>
                <a:cs typeface="Arial Narrow" pitchFamily="34" charset="-120"/>
              </a:rPr>
              <a:t>tendência</a:t>
            </a:r>
            <a:r>
              <a:rPr lang="en-US" sz="1800" dirty="0">
                <a:ea typeface="Arial Narrow" pitchFamily="34" charset="-122"/>
                <a:cs typeface="Arial Narrow" pitchFamily="34" charset="-120"/>
              </a:rPr>
              <a:t> global.</a:t>
            </a:r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Resultados e Discussões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Agrupamento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Queda percentual dos nascimentos por UF (2000–2024)</a:t>
            </a:r>
            <a:endParaRPr lang="en-US" sz="2600" dirty="0"/>
          </a:p>
        </p:txBody>
      </p:sp>
      <p:pic>
        <p:nvPicPr>
          <p:cNvPr id="6" name="Image 0" descr="/mnt/data/slides_assets/fig_queda_uf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7597"/>
            <a:ext cx="5257800" cy="3839966"/>
          </a:xfrm>
          <a:prstGeom prst="rect">
            <a:avLst/>
          </a:prstGeom>
        </p:spPr>
      </p:pic>
      <p:pic>
        <p:nvPicPr>
          <p:cNvPr id="7" name="Image 1" descr="/mnt/data/slides_assets/mapa_brasil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3427"/>
            <a:ext cx="4892040" cy="39711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57607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redução da natalidade não ocorreu de forma homogênea no território brasileiro.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Resultados e Discussões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Trajetória média dos clusters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75120" y="1005840"/>
            <a:ext cx="493776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Cluster 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903720" y="1664208"/>
            <a:ext cx="4389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 estados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Comportamento relativamente mais estável ou queda menos acentuada.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675120" y="3063240"/>
            <a:ext cx="493776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Cluster 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903720" y="3721608"/>
            <a:ext cx="4389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18 estados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Trajetória média com redução relativa mais intensa no período analisado.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57150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 K-Means identificou grupos de estados com trajetórias semelhantes de natalidade entre 2000 e 2024.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10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7EAFB5-3CB8-4F74-AFBD-7784ED2B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" y="1316736"/>
            <a:ext cx="6096000" cy="3297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Resultados e Discussões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Interpretação dos clusters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Estados brasileiros agrupados por cluster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9496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Cluster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846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Acre, Amapá, Amazonas, Maranhão, Mato Grosso, Mato Grosso do Sul, Paraíba, Pará e Roraima.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Cluster 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493008"/>
            <a:ext cx="48463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11" name="Image 0" descr="/mnt/data/slides_assets/tab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497" y="791718"/>
            <a:ext cx="2230423" cy="54025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823960" y="1417320"/>
            <a:ext cx="2697480" cy="4023360"/>
          </a:xfrm>
          <a:prstGeom prst="rect">
            <a:avLst/>
          </a:prstGeom>
          <a:solidFill>
            <a:srgbClr val="EAF4FB"/>
          </a:solidFill>
          <a:ln w="12700">
            <a:solidFill>
              <a:srgbClr val="B5CD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0684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Interpretação geral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006840" y="2286000"/>
            <a:ext cx="23317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6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Estados das regiões Sul e Sudeste apareceram mais associados ao grupo com maior redução, enquanto parte do Norte e Nordeste apresentou comportamento mais estável.</a:t>
            </a:r>
            <a:endParaRPr lang="en-US" sz="1560" dirty="0"/>
          </a:p>
          <a:p>
            <a:pPr marL="0" indent="0" algn="ctr">
              <a:buNone/>
            </a:pPr>
            <a:endParaRPr lang="en-US" sz="1560" dirty="0"/>
          </a:p>
          <a:p>
            <a:pPr marL="0" indent="0" algn="ctr">
              <a:buNone/>
            </a:pPr>
            <a:r>
              <a:rPr lang="en-US" sz="156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Essas diferenças podem refletir urbanização, escolaridade, envelhecimento populacional e mudanças no planejamento familiar.</a:t>
            </a:r>
            <a:endParaRPr lang="en-US" sz="1560" dirty="0"/>
          </a:p>
        </p:txBody>
      </p:sp>
      <p:sp>
        <p:nvSpPr>
          <p:cNvPr id="18" name="Text 14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11</a:t>
            </a:r>
            <a:endParaRPr lang="en-US" sz="800" dirty="0"/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AA19BF48-3431-4706-B9AF-222253C02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" y="3580283"/>
            <a:ext cx="510001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Alagoas, Bahia, Ceará, Distrito Federal, Espírito Santo, Goiás, Minas Gerais, Paraná, Pernambuco, Piauí, Rio Grande do Norte, Rio Grande do Sul, Rio de Janeiro, Rondônia, Santa Catarina, Sergipe, São Paulo e Tocantins.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Metodologia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Regras de Associação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" y="960120"/>
            <a:ext cx="10149840" cy="91440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Objetivo: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28600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37360" y="2240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Variáveis analisadas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224028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idade da mãe, escolaridade materna, consultas pré-natal e tipo de parto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971800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06324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Transformação dos dados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valores acima/abaixo da mediana convertidos em categorias binárias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749040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84048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737360" y="3794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Algoritmo utilizado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37947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Apriori, implementado com a biblioteca mlxtend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4526280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61772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73736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Métricas de avaliação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457200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suporte, confiança e lift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13535" y="740664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6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Atenção: regras de associação indicam coocorrência, não relação direta de causa e efeito.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12</a:t>
            </a:r>
            <a:endParaRPr lang="en-US" sz="800" dirty="0"/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EB7FA315-3875-4F5D-AEFA-50370EE6A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758" y="1111658"/>
            <a:ext cx="8122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Identificar padrões frequentes de associação entre a queda do número de nascimentos e características maternas/assistenciais.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FE8E0C1B-CBC8-4F03-91A3-910310874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015" y="5892966"/>
            <a:ext cx="110794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Atenção: regras de associação indicam padrões frequentes, não relações diretas de causa e efeito.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Resultados e Discussões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Regras de Associação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Principais regras encontradas</a:t>
            </a:r>
            <a:endParaRPr lang="en-US" sz="2600" dirty="0"/>
          </a:p>
        </p:txBody>
      </p:sp>
      <p:pic>
        <p:nvPicPr>
          <p:cNvPr id="6" name="Image 0" descr="/mnt/data/slides_assets/tab_regras.png"/>
          <p:cNvPicPr>
            <a:picLocks noChangeAspect="1"/>
          </p:cNvPicPr>
          <p:nvPr/>
        </p:nvPicPr>
        <p:blipFill rotWithShape="1">
          <a:blip r:embed="rId3"/>
          <a:srcRect l="1" r="577" b="7722"/>
          <a:stretch/>
        </p:blipFill>
        <p:spPr>
          <a:xfrm>
            <a:off x="187011" y="1332126"/>
            <a:ext cx="6305229" cy="29838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9400" y="1325880"/>
            <a:ext cx="4937760" cy="2971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6276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Padrões mais frequentes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903720" y="2148840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Instrucao_12_mais_alta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03720" y="2514600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Mae_30_34_alta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0372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Pre_natal_7_mais_alto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03720" y="3246120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Cesarea_alta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903720" y="369417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Exemplo de métrica: algumas regras apresentaram confiança de 1,000 e lift superior a 2,6.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14400" y="4462272"/>
            <a:ext cx="10424160" cy="1234440"/>
          </a:xfrm>
          <a:prstGeom prst="rect">
            <a:avLst/>
          </a:prstGeom>
          <a:solidFill>
            <a:srgbClr val="EAF4FB"/>
          </a:solidFill>
          <a:ln w="12700">
            <a:solidFill>
              <a:srgbClr val="B5CD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4645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Interpretação: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907792" y="4608576"/>
            <a:ext cx="81381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As regras sugerem associações frequentes entre queda da natalidade e um perfil relacionado a maior escolaridade materna, maternidade em idade mais elevada, maior acompanhamento pré-natal e maior ocorrência de cesarianas.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907792" y="51755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E6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Esses padrões representam coocorrências nos dados, não explicações causais diretas.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Discussão dos Resultados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Síntese interpretativa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 que os resultados mostram?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498348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1892808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1984248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856232" y="176479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Fenômeno global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856232" y="2176272"/>
            <a:ext cx="3657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análise mundial mostrou redução da fecundidade e da taxa bruta de natalidade em diferentes países.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429000"/>
            <a:ext cx="498348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9848" y="3721608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3813048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856232" y="359359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Brasil heterogêneo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56232" y="4005072"/>
            <a:ext cx="3657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Os estados brasileiros não apresentaram a mesma intensidade de queda nos nascimentos.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1600200"/>
            <a:ext cx="498348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1892808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1984248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96912" y="176479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Padrões regionais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296912" y="2176272"/>
            <a:ext cx="3657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K-Means separou estados com trajetórias semelhantes de natalidade ao longo do tempo.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3429000"/>
            <a:ext cx="498348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0528" y="3721608"/>
            <a:ext cx="640080" cy="64008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3813048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296912" y="359359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Associações frequentes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296912" y="4005072"/>
            <a:ext cx="3657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Apriori indicou coocorrências entre queda da natalidade e variáveis maternas/assistenciais.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53492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Limitações: análise exploratória, sem causalidade; ausência de variáveis como renda, custo de vida, moradia e participação feminina no mercado de trabalho.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Principais achados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349240" cy="4251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53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Agrupamento: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1901952"/>
            <a:ext cx="4663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K-Means permitiu identificar grupos de estados com trajetórias semelhantes.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42032"/>
            <a:ext cx="4663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A divisão em dois clusters foi apoiada pelo coeficiente de silhueta.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A redução da natalidade no Brasil ocorreu de forma regionalmente heterogênea.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55080" y="1051560"/>
            <a:ext cx="5120640" cy="4251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Regras de Associação: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29400" y="1901952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Apriori identificou padrões frequentes entre variáveis maternas e assistenciais.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542032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As regras envolveram escolaridade, idade materna, pré-natal e cesárea.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3182112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▪ Os resultados indicam coocorrência, não causalidade direta.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687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Contribuição do trabalho: usar mineração de dados para apoiar a compreensão exploratória de um fenômeno demográfico atual e relevante.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3B7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Referências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57800" y="14630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82C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Fontes utilizadas no trabalho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10835640" cy="5074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[1] AGRAWAL, R.; SRIKANT, R. Fast algorithms for mining association rules in large databases. VLDB, 1994.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[2] ALVES, J. E. D. Transição demográfica, estrutura etária e envelhecimento populacional no Brasil. Revista Portal de Divulgação, 2014.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[3] BRASIL. Ministério da Saúde. DATASUS – Sistema de Informações sobre Nascidos Vivos (SINASC). Acesso em: 26 maio 2026.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[4] HAN, J.; KAMBER, M.; PEI, J. Data mining: concepts and techniques. 3. ed. Morgan Kaufmann, 2011.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[5] IBGE. Projeção da população do Brasil e das Unidades da Federação. Acesso em: 26 maio 2026.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[6] PEDREGOSA, F. et al. Scikit-learn: machine learning in Python. Journal of Machine Learning Research, 2011.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[7] WORLD BANK. World Development Indicators. Acesso em: 26 maio 2026.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51E3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[8] OECD; INSEE; UNFPA. Fontes complementares sobre fecundidade, natalidade e população.</a:t>
            </a:r>
            <a:endParaRPr lang="en-US" sz="1380" dirty="0"/>
          </a:p>
        </p:txBody>
      </p:sp>
      <p:sp>
        <p:nvSpPr>
          <p:cNvPr id="9" name="Text 6"/>
          <p:cNvSpPr/>
          <p:nvPr/>
        </p:nvSpPr>
        <p:spPr>
          <a:xfrm>
            <a:off x="11594592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1454</TotalTime>
  <Words>1807</Words>
  <Application>Microsoft Office PowerPoint</Application>
  <PresentationFormat>Widescreen</PresentationFormat>
  <Paragraphs>243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Narrow</vt:lpstr>
      <vt:lpstr>Calibri</vt:lpstr>
      <vt:lpstr>Gill Sans MT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FATEC Rio Claro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Aplicação de Técnicas de Mineração de Dados na Análise de Padrões Relacionados à Queda da Natalidade</dc:title>
  <dc:subject>Mineração de Dados - Queda da Natalidade</dc:subject>
  <dc:creator>OpenAI</dc:creator>
  <cp:lastModifiedBy>natalia.thomazelli@hotmail.com</cp:lastModifiedBy>
  <cp:revision>5</cp:revision>
  <dcterms:created xsi:type="dcterms:W3CDTF">2026-05-27T13:42:04Z</dcterms:created>
  <dcterms:modified xsi:type="dcterms:W3CDTF">2026-05-28T14:03:59Z</dcterms:modified>
</cp:coreProperties>
</file>